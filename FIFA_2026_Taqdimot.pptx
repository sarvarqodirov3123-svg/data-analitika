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Gollar</c:v>
                </c:pt>
              </c:strCache>
            </c:strRef>
          </c:tx>
          <c:spPr>
            <a:solidFill>
              <a:srgbClr val="1354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8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Iran</c:v>
                  </c:pt>
                  <c:pt idx="1">
                    <c:v>Ghana</c:v>
                  </c:pt>
                  <c:pt idx="2">
                    <c:v>Costa Rica</c:v>
                  </c:pt>
                  <c:pt idx="3">
                    <c:v>Tunisia</c:v>
                  </c:pt>
                  <c:pt idx="4">
                    <c:v>Jamaica</c:v>
                  </c:pt>
                  <c:pt idx="5">
                    <c:v>Saudi Arabia</c:v>
                  </c:pt>
                  <c:pt idx="6">
                    <c:v>Cameroon</c:v>
                  </c:pt>
                  <c:pt idx="7">
                    <c:v>Panama</c:v>
                  </c:pt>
                  <c:pt idx="8">
                    <c:v>Netherlands</c:v>
                  </c:pt>
                  <c:pt idx="9">
                    <c:v>Qatar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72</c:v>
                </c:pt>
                <c:pt idx="1">
                  <c:v>75</c:v>
                </c:pt>
                <c:pt idx="2">
                  <c:v>76</c:v>
                </c:pt>
                <c:pt idx="3">
                  <c:v>78</c:v>
                </c:pt>
                <c:pt idx="4">
                  <c:v>79</c:v>
                </c:pt>
                <c:pt idx="5">
                  <c:v>82</c:v>
                </c:pt>
                <c:pt idx="6">
                  <c:v>88</c:v>
                </c:pt>
                <c:pt idx="7">
                  <c:v>90</c:v>
                </c:pt>
                <c:pt idx="8">
                  <c:v>94</c:v>
                </c:pt>
                <c:pt idx="9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8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28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b"/>
        <c:majorGridlines>
          <c:spPr>
            <a:ln w="9525" cap="flat">
              <a:solidFill>
                <a:srgbClr val="E5E9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O'rtacha reyting (x10)</c:v>
                </c:pt>
              </c:strCache>
            </c:strRef>
          </c:tx>
          <c:spPr>
            <a:solidFill>
              <a:srgbClr val="1354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8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Defender</c:v>
                  </c:pt>
                  <c:pt idx="1">
                    <c:v>Forward</c:v>
                  </c:pt>
                  <c:pt idx="2">
                    <c:v>Goalkeeper</c:v>
                  </c:pt>
                  <c:pt idx="3">
                    <c:v>Midfielder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39</c:v>
                </c:pt>
                <c:pt idx="2">
                  <c:v>21</c:v>
                </c:pt>
                <c:pt idx="3">
                  <c:v>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 aniqligi (%)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8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Defender</c:v>
                  </c:pt>
                  <c:pt idx="1">
                    <c:v>Forward</c:v>
                  </c:pt>
                  <c:pt idx="2">
                    <c:v>Goalkeeper</c:v>
                  </c:pt>
                  <c:pt idx="3">
                    <c:v>Midfielder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</c:v>
                </c:pt>
                <c:pt idx="1">
                  <c:v>78</c:v>
                </c:pt>
                <c:pt idx="2">
                  <c:v>72</c:v>
                </c:pt>
                <c:pt idx="3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28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8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6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Defender</c:v>
                </c:pt>
              </c:strCache>
            </c:strRef>
          </c:tx>
          <c:spPr>
            <a:solidFill>
              <a:srgbClr val="1354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Group
Stage</c:v>
                  </c:pt>
                  <c:pt idx="1">
                    <c:v>Round
of 32</c:v>
                  </c:pt>
                  <c:pt idx="2">
                    <c:v>Round
of 16</c:v>
                  </c:pt>
                  <c:pt idx="3">
                    <c:v>Quarter
Finals</c:v>
                  </c:pt>
                  <c:pt idx="4">
                    <c:v>Semi
Finals</c:v>
                  </c:pt>
                  <c:pt idx="5">
                    <c:v>3rd Place</c:v>
                  </c:pt>
                  <c:pt idx="6">
                    <c:v>Final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10404</c:v>
                </c:pt>
                <c:pt idx="1">
                  <c:v>3204</c:v>
                </c:pt>
                <c:pt idx="2">
                  <c:v>2268</c:v>
                </c:pt>
                <c:pt idx="3">
                  <c:v>1512</c:v>
                </c:pt>
                <c:pt idx="4">
                  <c:v>756</c:v>
                </c:pt>
                <c:pt idx="5">
                  <c:v>378</c:v>
                </c:pt>
                <c:pt idx="6">
                  <c:v>378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Forward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Group
Stage</c:v>
                  </c:pt>
                  <c:pt idx="1">
                    <c:v>Round
of 32</c:v>
                  </c:pt>
                  <c:pt idx="2">
                    <c:v>Round
of 16</c:v>
                  </c:pt>
                  <c:pt idx="3">
                    <c:v>Quarter
Finals</c:v>
                  </c:pt>
                  <c:pt idx="4">
                    <c:v>Semi
Finals</c:v>
                  </c:pt>
                  <c:pt idx="5">
                    <c:v>3rd Place</c:v>
                  </c:pt>
                  <c:pt idx="6">
                    <c:v>Final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6936</c:v>
                </c:pt>
                <c:pt idx="1">
                  <c:v>2136</c:v>
                </c:pt>
                <c:pt idx="2">
                  <c:v>1512</c:v>
                </c:pt>
                <c:pt idx="3">
                  <c:v>1008</c:v>
                </c:pt>
                <c:pt idx="4">
                  <c:v>504</c:v>
                </c:pt>
                <c:pt idx="5">
                  <c:v>252</c:v>
                </c:pt>
                <c:pt idx="6">
                  <c:v>252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Goalkeeper</c:v>
                </c:pt>
              </c:strCache>
            </c:strRef>
          </c:tx>
          <c:spPr>
            <a:solidFill>
              <a:srgbClr val="9AA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Group
Stage</c:v>
                  </c:pt>
                  <c:pt idx="1">
                    <c:v>Round
of 32</c:v>
                  </c:pt>
                  <c:pt idx="2">
                    <c:v>Round
of 16</c:v>
                  </c:pt>
                  <c:pt idx="3">
                    <c:v>Quarter
Finals</c:v>
                  </c:pt>
                  <c:pt idx="4">
                    <c:v>Semi
Finals</c:v>
                  </c:pt>
                  <c:pt idx="5">
                    <c:v>3rd Place</c:v>
                  </c:pt>
                  <c:pt idx="6">
                    <c:v>Final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3468</c:v>
                </c:pt>
                <c:pt idx="1">
                  <c:v>1068</c:v>
                </c:pt>
                <c:pt idx="2">
                  <c:v>756</c:v>
                </c:pt>
                <c:pt idx="3">
                  <c:v>504</c:v>
                </c:pt>
                <c:pt idx="4">
                  <c:v>252</c:v>
                </c:pt>
                <c:pt idx="5">
                  <c:v>126</c:v>
                </c:pt>
                <c:pt idx="6">
                  <c:v>126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Midfielder</c:v>
                </c:pt>
              </c:strCache>
            </c:strRef>
          </c:tx>
          <c:spPr>
            <a:solidFill>
              <a:srgbClr val="6FA2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Group
Stage</c:v>
                  </c:pt>
                  <c:pt idx="1">
                    <c:v>Round
of 32</c:v>
                  </c:pt>
                  <c:pt idx="2">
                    <c:v>Round
of 16</c:v>
                  </c:pt>
                  <c:pt idx="3">
                    <c:v>Quarter
Finals</c:v>
                  </c:pt>
                  <c:pt idx="4">
                    <c:v>Semi
Finals</c:v>
                  </c:pt>
                  <c:pt idx="5">
                    <c:v>3rd Place</c:v>
                  </c:pt>
                  <c:pt idx="6">
                    <c:v>Final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9248</c:v>
                </c:pt>
                <c:pt idx="1">
                  <c:v>2848</c:v>
                </c:pt>
                <c:pt idx="2">
                  <c:v>2016</c:v>
                </c:pt>
                <c:pt idx="3">
                  <c:v>1344</c:v>
                </c:pt>
                <c:pt idx="4">
                  <c:v>672</c:v>
                </c:pt>
                <c:pt idx="5">
                  <c:v>336</c:v>
                </c:pt>
                <c:pt idx="6">
                  <c:v>336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328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6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Mln EUR</c:v>
                </c:pt>
              </c:strCache>
            </c:strRef>
          </c:tx>
          <c:spPr>
            <a:solidFill>
              <a:srgbClr val="1354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8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Iran</c:v>
                  </c:pt>
                  <c:pt idx="1">
                    <c:v>Argentina</c:v>
                  </c:pt>
                  <c:pt idx="2">
                    <c:v>Mexico</c:v>
                  </c:pt>
                  <c:pt idx="3">
                    <c:v>Belgium</c:v>
                  </c:pt>
                  <c:pt idx="4">
                    <c:v>Croatia</c:v>
                  </c:pt>
                  <c:pt idx="5">
                    <c:v>Italy</c:v>
                  </c:pt>
                  <c:pt idx="6">
                    <c:v>Netherlands</c:v>
                  </c:pt>
                  <c:pt idx="7">
                    <c:v>Algeria</c:v>
                  </c:pt>
                  <c:pt idx="8">
                    <c:v>Panama</c:v>
                  </c:pt>
                  <c:pt idx="9">
                    <c:v>Saudi Arabia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23.94</c:v>
                </c:pt>
                <c:pt idx="1">
                  <c:v>24.12</c:v>
                </c:pt>
                <c:pt idx="2">
                  <c:v>24.26</c:v>
                </c:pt>
                <c:pt idx="3">
                  <c:v>25.35</c:v>
                </c:pt>
                <c:pt idx="4">
                  <c:v>26.34</c:v>
                </c:pt>
                <c:pt idx="5">
                  <c:v>27.99</c:v>
                </c:pt>
                <c:pt idx="6">
                  <c:v>28.77</c:v>
                </c:pt>
                <c:pt idx="7">
                  <c:v>28.96</c:v>
                </c:pt>
                <c:pt idx="8">
                  <c:v>29.25</c:v>
                </c:pt>
                <c:pt idx="9">
                  <c:v>33.8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328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28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Gollar</c:v>
                </c:pt>
              </c:strCache>
            </c:strRef>
          </c:tx>
          <c:spPr>
            <a:solidFill>
              <a:srgbClr val="1354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28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Memphis
Zerrouki</c:v>
                  </c:pt>
                  <c:pt idx="1">
                    <c:v>Kasey
Hector</c:v>
                  </c:pt>
                  <c:pt idx="2">
                    <c:v>Mohannad
Majeed</c:v>
                  </c:pt>
                  <c:pt idx="3">
                    <c:v>Dominik
Kramaric</c:v>
                  </c:pt>
                  <c:pt idx="4">
                    <c:v>Eric
Rodriguez</c:v>
                  </c:pt>
                  <c:pt idx="5">
                    <c:v>Vinicius
Nunes</c:v>
                  </c:pt>
                  <c:pt idx="6">
                    <c:v>Eric Mba</c:v>
                  </c:pt>
                  <c:pt idx="7">
                    <c:v>Randal
Duarte</c:v>
                  </c:pt>
                  <c:pt idx="8">
                    <c:v>Saman
Azmoun</c:v>
                  </c:pt>
                  <c:pt idx="9">
                    <c:v>G.
Calafiori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</c:v>
                </c:pt>
                <c:pt idx="1">
                  <c:v>16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  <c:pt idx="5">
                  <c:v>15</c:v>
                </c:pt>
                <c:pt idx="6">
                  <c:v>14</c:v>
                </c:pt>
                <c:pt idx="7">
                  <c:v>14</c:v>
                </c:pt>
                <c:pt idx="8">
                  <c:v>13</c:v>
                </c:pt>
                <c:pt idx="9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Assistlar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28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Memphis
Zerrouki</c:v>
                  </c:pt>
                  <c:pt idx="1">
                    <c:v>Kasey
Hector</c:v>
                  </c:pt>
                  <c:pt idx="2">
                    <c:v>Mohannad
Majeed</c:v>
                  </c:pt>
                  <c:pt idx="3">
                    <c:v>Dominik
Kramaric</c:v>
                  </c:pt>
                  <c:pt idx="4">
                    <c:v>Eric
Rodriguez</c:v>
                  </c:pt>
                  <c:pt idx="5">
                    <c:v>Vinicius
Nunes</c:v>
                  </c:pt>
                  <c:pt idx="6">
                    <c:v>Eric Mba</c:v>
                  </c:pt>
                  <c:pt idx="7">
                    <c:v>Randal
Duarte</c:v>
                  </c:pt>
                  <c:pt idx="8">
                    <c:v>Saman
Azmoun</c:v>
                  </c:pt>
                  <c:pt idx="9">
                    <c:v>G.
Calafiori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</c:v>
                </c:pt>
                <c:pt idx="1">
                  <c:v>9</c:v>
                </c:pt>
                <c:pt idx="2">
                  <c:v>10</c:v>
                </c:pt>
                <c:pt idx="3">
                  <c:v>9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6</c:v>
                </c:pt>
                <c:pt idx="8">
                  <c:v>4</c:v>
                </c:pt>
                <c:pt idx="9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328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328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6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Konversiya (%)</c:v>
                </c:pt>
              </c:strCache>
            </c:strRef>
          </c:tx>
          <c:spPr>
            <a:solidFill>
              <a:srgbClr val="13543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328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354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Costa Rica</c:v>
                  </c:pt>
                  <c:pt idx="1">
                    <c:v>Iran</c:v>
                  </c:pt>
                  <c:pt idx="2">
                    <c:v>Algeria</c:v>
                  </c:pt>
                  <c:pt idx="3">
                    <c:v>Ghana</c:v>
                  </c:pt>
                  <c:pt idx="4">
                    <c:v>England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2.91</c:v>
                </c:pt>
                <c:pt idx="1">
                  <c:v>3.07</c:v>
                </c:pt>
                <c:pt idx="2">
                  <c:v>3.12</c:v>
                </c:pt>
                <c:pt idx="3">
                  <c:v>3.17</c:v>
                </c:pt>
                <c:pt idx="4">
                  <c:v>3.27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328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328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4754880" cy="4754880"/>
          </a:xfrm>
          <a:prstGeom prst="ellipse">
            <a:avLst/>
          </a:prstGeom>
          <a:ln w="19050">
            <a:solidFill>
              <a:srgbClr val="6FA28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5394960"/>
            <a:ext cx="2377440" cy="2377440"/>
          </a:xfrm>
          <a:prstGeom prst="ellipse">
            <a:avLst/>
          </a:prstGeom>
          <a:ln w="19050">
            <a:solidFill>
              <a:srgbClr val="6FA287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6583680"/>
            <a:ext cx="4754880" cy="0"/>
          </a:xfrm>
          <a:prstGeom prst="line">
            <a:avLst/>
          </a:prstGeom>
          <a:noFill/>
          <a:ln w="19050">
            <a:solidFill>
              <a:srgbClr val="6FA287">
                <a:alpha val="4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C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 MA'LUMOTLAR TAHLILI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FIFA WORLD CUP 2026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O'yinchilar va o'yinlar statistikasi tahlili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41248" y="3794760"/>
            <a:ext cx="1463040" cy="0"/>
          </a:xfrm>
          <a:prstGeom prst="line">
            <a:avLst/>
          </a:prstGeom>
          <a:noFill/>
          <a:ln w="381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0233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PivotTable &amp; Dashboard  •  Python (pandas, matplotlib)  •  54,600 ta tozalangan yozuv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tahlili loyihasi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HAQIDA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 va vazifalar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turniridagi 1,050 ta o'yin va 1,245 o'yinchi statistikasi asosida jamoalar, pozitsiyalar va o'yinchilarning ko'rsatkichlarini har tomonlama tahlil qilish.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0"/>
            <a:ext cx="292608" cy="292608"/>
          </a:xfrm>
          <a:prstGeom prst="ellipse">
            <a:avLst/>
          </a:prstGeom>
          <a:solidFill>
            <a:srgbClr val="1354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383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332841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 tozalash va sifatini tekshirish (bo'sh/dublikat qatorlar)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950208"/>
            <a:ext cx="292608" cy="292608"/>
          </a:xfrm>
          <a:prstGeom prst="ellipse">
            <a:avLst/>
          </a:prstGeom>
          <a:solidFill>
            <a:srgbClr val="1354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950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8953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PivotTable orqali 6 ta asosiy ko'rsatkichni hisoblash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517136"/>
            <a:ext cx="292608" cy="292608"/>
          </a:xfrm>
          <a:prstGeom prst="ellipse">
            <a:avLst/>
          </a:prstGeom>
          <a:solidFill>
            <a:srgbClr val="1354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17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4622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 Dashboard va slicerlar bilan vizualizatsiya qilish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5084064"/>
            <a:ext cx="292608" cy="292608"/>
          </a:xfrm>
          <a:prstGeom prst="ellipse">
            <a:avLst/>
          </a:prstGeom>
          <a:solidFill>
            <a:srgbClr val="1354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840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5029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yordamida barcha natijalarni mustaqil tasdiqlash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1691640"/>
            <a:ext cx="4983480" cy="4572000"/>
          </a:xfrm>
          <a:prstGeom prst="roundRect">
            <a:avLst>
              <a:gd name="adj" fmla="val 2400"/>
            </a:avLst>
          </a:prstGeom>
          <a:solidFill>
            <a:srgbClr val="F4F7F5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JARAYONI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2423160"/>
            <a:ext cx="384048" cy="384048"/>
          </a:xfrm>
          <a:prstGeom prst="ellipse">
            <a:avLst/>
          </a:prstGeom>
          <a:solidFill>
            <a:srgbClr val="13543A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21" name="Text 19"/>
          <p:cNvSpPr/>
          <p:nvPr/>
        </p:nvSpPr>
        <p:spPr>
          <a:xfrm>
            <a:off x="7269480" y="23500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Xom ma'lumot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269480" y="26426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Data_FIFA — 55,600 qator, 77 ustun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12864" y="2825496"/>
            <a:ext cx="0" cy="320040"/>
          </a:xfrm>
          <a:prstGeom prst="line">
            <a:avLst/>
          </a:prstGeom>
          <a:noFill/>
          <a:ln w="15875">
            <a:solidFill>
              <a:srgbClr val="6FA287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720840" y="3209544"/>
            <a:ext cx="384048" cy="384048"/>
          </a:xfrm>
          <a:prstGeom prst="ellipse">
            <a:avLst/>
          </a:prstGeom>
          <a:solidFill>
            <a:srgbClr val="13543A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26" name="Text 24"/>
          <p:cNvSpPr/>
          <p:nvPr/>
        </p:nvSpPr>
        <p:spPr>
          <a:xfrm>
            <a:off x="726948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Tozalash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269480" y="3429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Bo'sh va dublikat qatorlarni aniqlash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12864" y="3611880"/>
            <a:ext cx="0" cy="320040"/>
          </a:xfrm>
          <a:prstGeom prst="line">
            <a:avLst/>
          </a:prstGeom>
          <a:noFill/>
          <a:ln w="15875">
            <a:solidFill>
              <a:srgbClr val="6FA287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720840" y="3995928"/>
            <a:ext cx="384048" cy="384048"/>
          </a:xfrm>
          <a:prstGeom prst="ellipse">
            <a:avLst/>
          </a:prstGeom>
          <a:solidFill>
            <a:srgbClr val="13543A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3995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92" dirty="0"/>
          </a:p>
        </p:txBody>
      </p:sp>
      <p:sp>
        <p:nvSpPr>
          <p:cNvPr id="31" name="Text 29"/>
          <p:cNvSpPr/>
          <p:nvPr/>
        </p:nvSpPr>
        <p:spPr>
          <a:xfrm>
            <a:off x="7269480" y="3922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 (Excel)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269480" y="421538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 pivot: jamoa, pozitsiya, bosqich...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12864" y="4398264"/>
            <a:ext cx="0" cy="320040"/>
          </a:xfrm>
          <a:prstGeom prst="line">
            <a:avLst/>
          </a:prstGeom>
          <a:noFill/>
          <a:ln w="15875">
            <a:solidFill>
              <a:srgbClr val="6FA287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720840" y="4782312"/>
            <a:ext cx="384048" cy="384048"/>
          </a:xfrm>
          <a:prstGeom prst="ellipse">
            <a:avLst/>
          </a:prstGeom>
          <a:solidFill>
            <a:srgbClr val="13543A"/>
          </a:solidFill>
          <a:ln/>
        </p:spPr>
      </p:sp>
      <p:sp>
        <p:nvSpPr>
          <p:cNvPr id="35" name="Text 33"/>
          <p:cNvSpPr/>
          <p:nvPr/>
        </p:nvSpPr>
        <p:spPr>
          <a:xfrm>
            <a:off x="6720840" y="4782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92" dirty="0"/>
          </a:p>
        </p:txBody>
      </p:sp>
      <p:sp>
        <p:nvSpPr>
          <p:cNvPr id="36" name="Text 34"/>
          <p:cNvSpPr/>
          <p:nvPr/>
        </p:nvSpPr>
        <p:spPr>
          <a:xfrm>
            <a:off x="7269480" y="47091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(Excel)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269480" y="50017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kartalar, grafiklar, slicerlar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912864" y="5184648"/>
            <a:ext cx="0" cy="320040"/>
          </a:xfrm>
          <a:prstGeom prst="line">
            <a:avLst/>
          </a:prstGeom>
          <a:noFill/>
          <a:ln w="15875">
            <a:solidFill>
              <a:srgbClr val="6FA287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720840" y="5568696"/>
            <a:ext cx="384048" cy="3840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ext 38"/>
          <p:cNvSpPr/>
          <p:nvPr/>
        </p:nvSpPr>
        <p:spPr>
          <a:xfrm>
            <a:off x="6720840" y="5568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92" dirty="0"/>
          </a:p>
        </p:txBody>
      </p:sp>
      <p:sp>
        <p:nvSpPr>
          <p:cNvPr id="41" name="Text 39"/>
          <p:cNvSpPr/>
          <p:nvPr/>
        </p:nvSpPr>
        <p:spPr>
          <a:xfrm>
            <a:off x="7269480" y="54955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tasdiqlash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269480" y="57881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bilan qayta hisoblash va solishtirish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Ma'lumotlar to'plami umumiy ko'rinishi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3543A">
              <a:alpha val="85000"/>
            </a:srgbClr>
          </a:solidFill>
          <a:ln w="9525">
            <a:solidFill>
              <a:srgbClr val="6FA287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3911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C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55,600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5156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Xom qatorlar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87452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3543A">
              <a:alpha val="85000"/>
            </a:srgbClr>
          </a:solidFill>
          <a:ln w="9525">
            <a:solidFill>
              <a:srgbClr val="6FA287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03911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C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54,600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75488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Tozalangan qatorlar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87452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3543A">
              <a:alpha val="85000"/>
            </a:srgbClr>
          </a:solidFill>
          <a:ln w="9525">
            <a:solidFill>
              <a:srgbClr val="6FA287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03911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C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45820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Ustunlar (ko'rsatkichlar)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88620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3543A">
              <a:alpha val="85000"/>
            </a:srgbClr>
          </a:solidFill>
          <a:ln w="9525">
            <a:solidFill>
              <a:srgbClr val="6FA287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05079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C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051560" y="4937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Jamoalar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26280" y="388620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3543A">
              <a:alpha val="85000"/>
            </a:srgbClr>
          </a:solidFill>
          <a:ln w="9525">
            <a:solidFill>
              <a:srgbClr val="6FA287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405079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C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754880" y="4937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O'yinchilar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388620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3543A">
              <a:alpha val="85000"/>
            </a:srgbClr>
          </a:solidFill>
          <a:ln w="9525">
            <a:solidFill>
              <a:srgbClr val="6FA287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405079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C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458200" y="4937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O'yinlar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1,000 ta qator asosiy ustunlarda bo'sh qiymatga ega va 999 ta dublikat qator (player_id + match_id) aniqlangan — shu sabab pivot va groupby natijalarida 54,600 qator asos qilib olingan.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Jamoalar bo'yicha gollar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722376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691640"/>
            <a:ext cx="3200400" cy="4709160"/>
          </a:xfrm>
          <a:prstGeom prst="roundRect">
            <a:avLst>
              <a:gd name="adj" fmla="val 3429"/>
            </a:avLst>
          </a:prstGeom>
          <a:solidFill>
            <a:srgbClr val="0B3D26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YETAKCHI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Qatar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503920" y="2880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0C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8503920" y="3794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gol — turnirning eng natijali jamoasi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03920" y="4663440"/>
            <a:ext cx="2377440" cy="0"/>
          </a:xfrm>
          <a:prstGeom prst="line">
            <a:avLst/>
          </a:prstGeom>
          <a:noFill/>
          <a:ln w="12700">
            <a:solidFill>
              <a:srgbClr val="6FA287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0" y="489204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 (94) va Panama (90) bilan yaqin raqobatda, top-3 jamoa jami 279 ta gol urgan.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Pozitsiyalar bo'yicha samaradorlik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6263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Reyting o'ndan bir ballik aniqlikda x10 shkalada ko'rsatilgan (masalan 38 = 3.8 ball)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863840" y="173736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4F7F5"/>
          </a:solidFill>
          <a:ln/>
        </p:spPr>
      </p:sp>
      <p:sp>
        <p:nvSpPr>
          <p:cNvPr id="7" name="Text 4"/>
          <p:cNvSpPr/>
          <p:nvPr/>
        </p:nvSpPr>
        <p:spPr>
          <a:xfrm>
            <a:off x="818388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83880" y="23317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3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(3.88) va Midfielder (3.86) pozitsiyalari eng yuqori o'rtacha reytingga ega.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183880" y="3429000"/>
            <a:ext cx="2651760" cy="0"/>
          </a:xfrm>
          <a:prstGeom prst="line">
            <a:avLst/>
          </a:prstGeom>
          <a:noFill/>
          <a:ln w="12700">
            <a:solidFill>
              <a:srgbClr val="6FA2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83880" y="36118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3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Goalkeeper reytingi (2.07) sezilarli past — chunki darvozabonlar boshqa mezon (saves, save_percentage) bilan baholanadi.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183880" y="4892040"/>
            <a:ext cx="2651760" cy="0"/>
          </a:xfrm>
          <a:prstGeom prst="line">
            <a:avLst/>
          </a:prstGeom>
          <a:noFill/>
          <a:ln w="12700">
            <a:solidFill>
              <a:srgbClr val="6FA28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50749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3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Midfielder eng yuqori pas aniqligiga (85%) ega — o'yin qurish rolini tasdiqlaydi.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Turnir bosqichi bo'yicha pozitsiya taqsimoti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bosqichda o'yinchilar soni pasayadi (elimatsiya tizimi sababli), lekin pozitsiyalar nisbati barcha bosqichlarda deyarli bir xil saqlanadi: Defender ~34%, Midfielder ~31%, Forward ~23%, Goalkeeper ~12%.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Jamoalarning o'rtacha bozor qiymati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722376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691640"/>
            <a:ext cx="3200400" cy="4709160"/>
          </a:xfrm>
          <a:prstGeom prst="roundRect">
            <a:avLst>
              <a:gd name="adj" fmla="val 3429"/>
            </a:avLst>
          </a:prstGeom>
          <a:solidFill>
            <a:srgbClr val="0B3D26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QIMMAT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22860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Saudi Arabia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503920" y="3063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0C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€33.8M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503920" y="38862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o'rtacha bozor qiymati — barcha jamoalar orasida yetakchi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03920" y="4754880"/>
            <a:ext cx="2377440" cy="0"/>
          </a:xfrm>
          <a:prstGeom prst="line">
            <a:avLst/>
          </a:prstGeom>
          <a:noFill/>
          <a:ln w="12700">
            <a:solidFill>
              <a:srgbClr val="6FA287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0" y="49834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qiymati yuqori bo'lgan jamoalar orasida Yevropa (Netherlands, Italy, Croatia, Belgium) va Afrika (Algeria) vakillari ham bor.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 yaxshi bombardirlar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Memphis Zerrouki 24 ta gol va 9 ta assist bilan boshqa barcha o'yinchilardan sezilarli darajada oldinda.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Zarbani golga aylantirish samaradorligi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3736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F4F7F5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DEGANI?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38160" y="233172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goal_conversion_rate = goals / shots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100 ta zarbadan nechtasi golga aylanganini ko'rsatadi.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138160" y="3794760"/>
            <a:ext cx="2651760" cy="0"/>
          </a:xfrm>
          <a:prstGeom prst="line">
            <a:avLst/>
          </a:prstGeom>
          <a:noFill/>
          <a:ln w="12700">
            <a:solidFill>
              <a:srgbClr val="6FA28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397764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 eng yuqori (3.27%) ko'rsatkichga ega — kam zarba bilan ham natijaga erisha oladigan jamoa ekanini bildiradi.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XULOSALAR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5 ta xulosa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1354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554480" y="163677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Qatar — eng natijali jamoa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ta gol bilan turnir yetakchisi, undan keyin Netherlands (94) va Panama (90).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10241280" cy="0"/>
          </a:xfrm>
          <a:prstGeom prst="line">
            <a:avLst/>
          </a:prstGeom>
          <a:noFill/>
          <a:ln w="12700">
            <a:solidFill>
              <a:srgbClr val="E5E9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624328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554480" y="256946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Pozitsiyalar orasida reyting farqi katta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94436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(3.88) va Midfielder (3.86) eng yuqori, Goalkeeper (2.07) boshqa mezon bilan baholanadi.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493008"/>
            <a:ext cx="10241280" cy="0"/>
          </a:xfrm>
          <a:prstGeom prst="line">
            <a:avLst/>
          </a:prstGeom>
          <a:noFill/>
          <a:ln w="12700">
            <a:solidFill>
              <a:srgbClr val="E5E9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557016"/>
            <a:ext cx="502920" cy="502920"/>
          </a:xfrm>
          <a:prstGeom prst="ellipse">
            <a:avLst/>
          </a:prstGeom>
          <a:solidFill>
            <a:srgbClr val="1354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57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1554480" y="350215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Saudi Arabia — eng qimmat tarkib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877056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O'rtacha €33.8 mln bozor qiymati bilan barcha jamoalar orasida yetakchi.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425696"/>
            <a:ext cx="10241280" cy="0"/>
          </a:xfrm>
          <a:prstGeom prst="line">
            <a:avLst/>
          </a:prstGeom>
          <a:noFill/>
          <a:ln w="12700">
            <a:solidFill>
              <a:srgbClr val="E5E9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489704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489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1554480" y="4434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Memphis Zerrouki — eng samarali bombardir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4809744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gol va 9 assist bilan boshqalardan sezilarli oldinda.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5358384"/>
            <a:ext cx="10241280" cy="0"/>
          </a:xfrm>
          <a:prstGeom prst="line">
            <a:avLst/>
          </a:prstGeom>
          <a:noFill/>
          <a:ln w="12700">
            <a:solidFill>
              <a:srgbClr val="E5E9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5422392"/>
            <a:ext cx="502920" cy="502920"/>
          </a:xfrm>
          <a:prstGeom prst="ellipse">
            <a:avLst/>
          </a:prstGeom>
          <a:solidFill>
            <a:srgbClr val="13543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422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1554480" y="536752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England — eng samarali zarba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5742432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goal_conversion_rate 3.27% bilan zarbani golga eng yaxshi aylantiruvchi jamoa.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TASDIQLASH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va Python natijalari mosligi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10515600" cy="301752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3291840"/>
                <a:gridCol w="640080"/>
              </a:tblGrid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43A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Jamoalar bo'yicha gollar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Qatar — 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Qatar — 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Pozitsiya reytingi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— 3.88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— 3.88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Bosqich x Pozitsiya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 54,600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 54,600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Jamoa qiymati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Arabia — €33.8M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Arabia — €33.8M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Eng yaxshi bombardir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Zerrouki — 24 gol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Zerrouki — 24 gol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Zarba samaradorligi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England — 3.27%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England — 3.27%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02920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0B3D26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516636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6 ta pivot table Excel va Python'da aynan bir xil natija berdi. Ba'zi "Top 10" ro'yxatlarida Excel teng qiymatli qatorlarning barchasini saqlab qoladi (masalan 13-15 ta), pandas esa qat'iy 10 tasini oladi — bu hisob xatosi emas, ikkala vositaning "tie-breaking" mantig'idagi tabiiy farq.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ln w="19050">
            <a:solidFill>
              <a:srgbClr val="6FA287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RAHMAT!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statistikasi Excel va Python (pandas) yordamida tahlil qilindi.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41248" y="4160520"/>
            <a:ext cx="1463040" cy="0"/>
          </a:xfrm>
          <a:prstGeom prst="line">
            <a:avLst/>
          </a:prstGeom>
          <a:noFill/>
          <a:ln w="381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Excel: Fifa.xlsx   •   Python: Analiz.ipynb   •   README.md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2026-09-06T05:09:45Z</dcterms:created>
  <dcterms:modified xsi:type="dcterms:W3CDTF">2026-09-06T05:09:45Z</dcterms:modified>
</cp:coreProperties>
</file>